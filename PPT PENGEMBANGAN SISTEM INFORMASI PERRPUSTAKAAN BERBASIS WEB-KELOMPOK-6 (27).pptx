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77" r:id="rId6"/>
    <p:sldId id="258" r:id="rId7"/>
    <p:sldId id="264" r:id="rId8"/>
    <p:sldId id="291" r:id="rId9"/>
    <p:sldId id="268" r:id="rId10"/>
    <p:sldId id="286" r:id="rId11"/>
    <p:sldId id="262" r:id="rId12"/>
    <p:sldId id="294" r:id="rId13"/>
    <p:sldId id="292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279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7EE"/>
    <a:srgbClr val="E9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>
        <p:scale>
          <a:sx n="58" d="100"/>
          <a:sy n="58" d="100"/>
        </p:scale>
        <p:origin x="988" y="64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70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DCA5-F74A-9FB3-A47B-15458D92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153AC-FCAF-FC42-A18E-F3A013927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12701-08C4-D3D5-88B8-EDAC9712C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0F6A9-4CD5-C62E-F6BB-43CDAFF8C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359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C448-9D0B-3B99-2811-054F7903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0FFFB-446D-4D7D-E04E-788FDEFE2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A0B8D-7A24-D80B-6FE3-0557F74B3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12B82-3818-3747-39F3-8B6113469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14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91B9-CFEB-A675-3F63-A9A077BE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C6504-1BA5-D080-A304-C3B224712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5D4C3-E189-AFB6-720A-2A11930E8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61968-21CB-2AEB-70D2-58A27C666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301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098D-DDF9-6721-43FA-4BB677D6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EA1DC-A08D-A554-F0A0-C50569149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64B4F-A5FD-71FC-CC99-1B28B9EAF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7032F-2D31-685D-76E2-390B35329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653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45A0-C40E-5723-14FD-D279E5C6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1D38F-4C9F-0D1D-13AB-DE16FC63E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0BDB5-0AA4-C976-76F1-4A47F3A14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D39BE-0836-61D2-53B2-4C2BC44C5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118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911C-ACB3-EF9E-59E7-0E669281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11514-3B31-31FD-9DFC-9B65B049C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C58B4-63D0-08CA-2DE9-50F0C56CA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74D38-677F-8BB3-D017-7D01EEA21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542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F1E0-3444-1EAF-317A-600B65F1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BB75C-5188-661D-F0B9-BBFEE4EB6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92164-865F-E188-CC7F-85893E6E8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30BC4-0CBD-314C-21E0-5FABA400B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965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AB4A6-0F89-BCEA-0E7B-9BA9362DF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947CD-8DC5-A2F5-9959-08ABE358C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27F1C-7F1D-2B15-AF8B-1C02CA02C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8B62-1569-BF38-5E1A-EA5A8A660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50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4C885-9DC7-0858-C6A1-22F372EE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9D99A-A051-6B4F-7481-13851391D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CE954-3611-A295-6177-CC7BCF903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B03CD-2F88-4998-55FD-F255BD11C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015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5029" y="645260"/>
            <a:ext cx="6856292" cy="359059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Pengembangan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br>
              <a:rPr lang="en-US" dirty="0"/>
            </a:br>
            <a:r>
              <a:rPr lang="en-US" dirty="0" err="1"/>
              <a:t>perpustakaan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berbasis</a:t>
            </a:r>
            <a:r>
              <a:rPr lang="en-US" dirty="0"/>
              <a:t> web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FED1E-9484-3F63-02C6-F51D162064AE}"/>
              </a:ext>
            </a:extLst>
          </p:cNvPr>
          <p:cNvSpPr txBox="1"/>
          <p:nvPr/>
        </p:nvSpPr>
        <p:spPr>
          <a:xfrm>
            <a:off x="9612086" y="6028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BY : KELOMPOK 6</a:t>
            </a:r>
            <a:endParaRPr lang="en-ID" sz="1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03347-F634-4378-D169-D416E09B5171}"/>
              </a:ext>
            </a:extLst>
          </p:cNvPr>
          <p:cNvSpPr txBox="1"/>
          <p:nvPr/>
        </p:nvSpPr>
        <p:spPr>
          <a:xfrm>
            <a:off x="4674693" y="4051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UNIVERSITAS KEBANGSAAN REPUBLIK INDONESIA </a:t>
            </a:r>
            <a:endParaRPr lang="en-ID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713" y="805543"/>
            <a:ext cx="6343650" cy="1171153"/>
          </a:xfrm>
        </p:spPr>
        <p:txBody>
          <a:bodyPr>
            <a:normAutofit/>
          </a:bodyPr>
          <a:lstStyle/>
          <a:p>
            <a:r>
              <a:rPr lang="en-ZA" dirty="0"/>
              <a:t>PEMBAHASAN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57070" y="2418670"/>
            <a:ext cx="6338887" cy="266858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Latar </a:t>
            </a:r>
            <a:r>
              <a:rPr lang="en-US" dirty="0" err="1"/>
              <a:t>Belakang</a:t>
            </a:r>
            <a:r>
              <a:rPr lang="en-US" dirty="0"/>
              <a:t> &amp; </a:t>
            </a:r>
            <a:r>
              <a:rPr lang="en-US" dirty="0" err="1"/>
              <a:t>Masalah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Maksud &amp; Tujuan </a:t>
            </a:r>
          </a:p>
          <a:p>
            <a:pPr>
              <a:lnSpc>
                <a:spcPct val="120000"/>
              </a:lnSpc>
            </a:pPr>
            <a:r>
              <a:rPr lang="en-US" dirty="0"/>
              <a:t>Ruang </a:t>
            </a:r>
            <a:r>
              <a:rPr lang="en-US" dirty="0" err="1"/>
              <a:t>Lingkup</a:t>
            </a:r>
            <a:r>
              <a:rPr lang="en-US" dirty="0"/>
              <a:t> &amp; </a:t>
            </a:r>
            <a:r>
              <a:rPr lang="en-US" dirty="0" err="1"/>
              <a:t>Kebutuhan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Metodologi</a:t>
            </a:r>
            <a:r>
              <a:rPr lang="en-US" dirty="0"/>
              <a:t> &amp; </a:t>
            </a:r>
            <a:r>
              <a:rPr lang="en-US" dirty="0" err="1"/>
              <a:t>Pengumpulan</a:t>
            </a:r>
            <a:r>
              <a:rPr lang="en-US" dirty="0"/>
              <a:t> data 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&amp; </a:t>
            </a:r>
            <a:r>
              <a:rPr lang="en-US" dirty="0" err="1"/>
              <a:t>Teknologi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Struktur</a:t>
            </a:r>
            <a:r>
              <a:rPr lang="en-US" dirty="0"/>
              <a:t> Tim, Output  &amp; Jadwal 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Usulan</a:t>
            </a:r>
            <a:r>
              <a:rPr lang="en-US" dirty="0"/>
              <a:t> </a:t>
            </a:r>
            <a:r>
              <a:rPr lang="en-US" dirty="0" err="1"/>
              <a:t>Anggara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( </a:t>
            </a:r>
            <a:r>
              <a:rPr lang="en-US" dirty="0" err="1"/>
              <a:t>Estimasi</a:t>
            </a:r>
            <a:r>
              <a:rPr lang="en-US" dirty="0"/>
              <a:t>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Latar </a:t>
            </a:r>
            <a:r>
              <a:rPr lang="en-US" dirty="0" err="1"/>
              <a:t>belakang</a:t>
            </a:r>
            <a:r>
              <a:rPr lang="en-US" dirty="0"/>
              <a:t> &amp;</a:t>
            </a:r>
            <a:br>
              <a:rPr lang="en-US" dirty="0"/>
            </a:br>
            <a:r>
              <a:rPr lang="en-US" dirty="0" err="1"/>
              <a:t>masalah</a:t>
            </a:r>
            <a:r>
              <a:rPr lang="en-US" dirty="0"/>
              <a:t> 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8714" y="1404485"/>
            <a:ext cx="6597650" cy="437583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 err="1"/>
              <a:t>Kebutuhan</a:t>
            </a:r>
            <a:r>
              <a:rPr lang="en-US" sz="2400" b="1" dirty="0"/>
              <a:t> </a:t>
            </a:r>
            <a:r>
              <a:rPr lang="en-US" sz="2400" b="1" dirty="0" err="1"/>
              <a:t>Digitalisasi</a:t>
            </a:r>
            <a:r>
              <a:rPr lang="en-US" sz="2400" b="1" dirty="0"/>
              <a:t> : </a:t>
            </a:r>
            <a:r>
              <a:rPr lang="en-US" sz="2400" dirty="0" err="1"/>
              <a:t>Perlunya</a:t>
            </a:r>
            <a:r>
              <a:rPr lang="en-US" sz="2400" dirty="0"/>
              <a:t> </a:t>
            </a:r>
            <a:r>
              <a:rPr lang="en-US" sz="2400" dirty="0" err="1"/>
              <a:t>akses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cepat</a:t>
            </a:r>
            <a:r>
              <a:rPr lang="en-US" sz="2400" dirty="0"/>
              <a:t> </a:t>
            </a: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dan dose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jurnal</a:t>
            </a:r>
            <a:r>
              <a:rPr lang="en-US" sz="2400" dirty="0"/>
              <a:t>, e-book, dan database 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 err="1"/>
              <a:t>Kesenjangan</a:t>
            </a:r>
            <a:r>
              <a:rPr lang="en-US" sz="2400" b="1" dirty="0"/>
              <a:t> </a:t>
            </a:r>
            <a:r>
              <a:rPr lang="en-US" sz="2400" b="1" dirty="0" err="1"/>
              <a:t>Fasilitas</a:t>
            </a:r>
            <a:r>
              <a:rPr lang="en-US" sz="2400" b="1" dirty="0"/>
              <a:t> : </a:t>
            </a:r>
            <a:r>
              <a:rPr lang="en-US" sz="2400" dirty="0"/>
              <a:t>Adanya gap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 </a:t>
            </a:r>
            <a:r>
              <a:rPr lang="en-US" sz="2400" dirty="0" err="1"/>
              <a:t>infromasi</a:t>
            </a:r>
            <a:r>
              <a:rPr lang="en-US" sz="2400" dirty="0"/>
              <a:t> digital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fasilitas</a:t>
            </a:r>
            <a:r>
              <a:rPr lang="en-US" sz="2400" dirty="0"/>
              <a:t> </a:t>
            </a:r>
            <a:r>
              <a:rPr lang="en-US" sz="2400" dirty="0" err="1"/>
              <a:t>konvensional</a:t>
            </a:r>
            <a:r>
              <a:rPr lang="en-US" sz="2400" dirty="0"/>
              <a:t> </a:t>
            </a:r>
            <a:r>
              <a:rPr lang="en-US" sz="2400" dirty="0" err="1"/>
              <a:t>uyang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0709" y="1306286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Maksud &amp; Tujuan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27982" y="2547257"/>
            <a:ext cx="4514850" cy="11865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/>
              <a:t>Maksud :</a:t>
            </a:r>
          </a:p>
          <a:p>
            <a:pPr algn="ctr">
              <a:lnSpc>
                <a:spcPct val="120000"/>
              </a:lnSpc>
            </a:pPr>
            <a:r>
              <a:rPr lang="en-US" sz="2400" dirty="0"/>
              <a:t> </a:t>
            </a:r>
            <a:r>
              <a:rPr lang="en-US" sz="2400" dirty="0" err="1"/>
              <a:t>Membangun</a:t>
            </a:r>
            <a:r>
              <a:rPr lang="en-US" sz="2400" dirty="0"/>
              <a:t> </a:t>
            </a:r>
            <a:r>
              <a:rPr lang="en-US" sz="2400" dirty="0" err="1"/>
              <a:t>platfrom</a:t>
            </a:r>
            <a:r>
              <a:rPr lang="en-US" sz="2400" dirty="0"/>
              <a:t> digital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mengintegrasikan</a:t>
            </a:r>
            <a:r>
              <a:rPr lang="en-US" sz="2400" dirty="0"/>
              <a:t> </a:t>
            </a:r>
            <a:r>
              <a:rPr lang="en-US" sz="2400" dirty="0" err="1"/>
              <a:t>layanan</a:t>
            </a:r>
            <a:r>
              <a:rPr lang="en-US" sz="2400" dirty="0"/>
              <a:t> </a:t>
            </a:r>
            <a:r>
              <a:rPr lang="en-US" sz="2400" dirty="0" err="1"/>
              <a:t>perpustakaan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mandiri</a:t>
            </a:r>
            <a:r>
              <a:rPr lang="en-US" sz="2400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53567" y="1055914"/>
            <a:ext cx="4514850" cy="10668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/>
              <a:t>Tujuan : </a:t>
            </a:r>
          </a:p>
          <a:p>
            <a:pPr algn="ctr">
              <a:lnSpc>
                <a:spcPct val="100000"/>
              </a:lnSpc>
            </a:pPr>
            <a:r>
              <a:rPr lang="en-US" sz="2800" dirty="0" err="1"/>
              <a:t>Meningkatkan</a:t>
            </a:r>
            <a:r>
              <a:rPr lang="en-US" sz="2800" dirty="0"/>
              <a:t> </a:t>
            </a:r>
            <a:r>
              <a:rPr lang="en-US" sz="2800" dirty="0" err="1"/>
              <a:t>efisiensi</a:t>
            </a:r>
            <a:r>
              <a:rPr lang="en-US" sz="2800" dirty="0"/>
              <a:t> </a:t>
            </a:r>
            <a:r>
              <a:rPr lang="en-US" sz="2800" dirty="0" err="1"/>
              <a:t>pengelolaan</a:t>
            </a:r>
            <a:r>
              <a:rPr lang="en-US" sz="2800" dirty="0"/>
              <a:t> data </a:t>
            </a:r>
            <a:r>
              <a:rPr lang="en-US" sz="2800" dirty="0" err="1"/>
              <a:t>serta</a:t>
            </a:r>
            <a:r>
              <a:rPr lang="en-US" sz="2800" dirty="0"/>
              <a:t> </a:t>
            </a:r>
            <a:r>
              <a:rPr lang="en-US" sz="2800" dirty="0" err="1"/>
              <a:t>menyediakan</a:t>
            </a:r>
            <a:r>
              <a:rPr lang="en-US" sz="2800" dirty="0"/>
              <a:t> </a:t>
            </a:r>
            <a:r>
              <a:rPr lang="en-US" sz="2800" dirty="0" err="1"/>
              <a:t>akses</a:t>
            </a:r>
            <a:r>
              <a:rPr lang="en-US" sz="2800" dirty="0"/>
              <a:t> </a:t>
            </a:r>
            <a:r>
              <a:rPr lang="en-US" sz="2800" dirty="0" err="1"/>
              <a:t>informasi</a:t>
            </a:r>
            <a:r>
              <a:rPr lang="en-US" sz="2800" dirty="0"/>
              <a:t> 24/7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 err="1"/>
              <a:t>Metodologi</a:t>
            </a:r>
            <a:r>
              <a:rPr lang="en-US" dirty="0"/>
              <a:t> &amp;</a:t>
            </a:r>
            <a:br>
              <a:rPr lang="en-US" dirty="0"/>
            </a:br>
            <a:r>
              <a:rPr lang="en-US" dirty="0" err="1"/>
              <a:t>Pengumpulan</a:t>
            </a:r>
            <a:r>
              <a:rPr lang="en-US" dirty="0"/>
              <a:t> data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4475445"/>
            <a:ext cx="6113417" cy="190500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Metodologi</a:t>
            </a:r>
            <a:r>
              <a:rPr lang="en-US" sz="2400" b="1" dirty="0"/>
              <a:t> 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 waterfall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pengembangan</a:t>
            </a:r>
            <a:r>
              <a:rPr lang="en-US" sz="2400" dirty="0"/>
              <a:t> </a:t>
            </a:r>
            <a:r>
              <a:rPr lang="en-US" sz="2400" dirty="0" err="1"/>
              <a:t>tersruktur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target </a:t>
            </a:r>
            <a:r>
              <a:rPr lang="en-US" sz="2400" dirty="0" err="1"/>
              <a:t>akademik</a:t>
            </a:r>
            <a:r>
              <a:rPr lang="en-US" sz="2400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436104"/>
            <a:ext cx="5888083" cy="297288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/>
              <a:t>Pengumpulan</a:t>
            </a:r>
            <a:r>
              <a:rPr lang="en-US" sz="2400" b="1" dirty="0"/>
              <a:t> Data :</a:t>
            </a:r>
          </a:p>
          <a:p>
            <a:pPr>
              <a:lnSpc>
                <a:spcPct val="120000"/>
              </a:lnSpc>
            </a:pP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</a:t>
            </a:r>
            <a:r>
              <a:rPr lang="en-US" sz="2400" dirty="0" err="1"/>
              <a:t>mendalam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Kepala</a:t>
            </a:r>
            <a:r>
              <a:rPr lang="en-US" sz="2400" dirty="0"/>
              <a:t> </a:t>
            </a:r>
            <a:r>
              <a:rPr lang="en-US" sz="2400" dirty="0" err="1"/>
              <a:t>Perpustakaan</a:t>
            </a:r>
            <a:r>
              <a:rPr lang="en-US" sz="2400" dirty="0"/>
              <a:t> dan </a:t>
            </a:r>
            <a:r>
              <a:rPr lang="en-US" sz="2400" dirty="0" err="1"/>
              <a:t>Staf</a:t>
            </a:r>
            <a:r>
              <a:rPr lang="en-US" sz="2400" dirty="0"/>
              <a:t> </a:t>
            </a:r>
            <a:r>
              <a:rPr lang="en-US" sz="2400" dirty="0" err="1"/>
              <a:t>Administrasi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menggali</a:t>
            </a:r>
            <a:r>
              <a:rPr lang="en-US" sz="2400" dirty="0"/>
              <a:t> </a:t>
            </a:r>
            <a:r>
              <a:rPr lang="en-US" sz="2400" dirty="0" err="1"/>
              <a:t>alurkerja</a:t>
            </a:r>
            <a:r>
              <a:rPr lang="en-US" sz="2400" dirty="0"/>
              <a:t>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&amp; </a:t>
            </a:r>
            <a:r>
              <a:rPr lang="en-US" dirty="0" err="1"/>
              <a:t>Teknologi</a:t>
            </a:r>
            <a:r>
              <a:rPr lang="en-US" dirty="0"/>
              <a:t> 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314094" y="2819974"/>
            <a:ext cx="8007047" cy="10565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Tahap</a:t>
            </a:r>
            <a:r>
              <a:rPr lang="en-US" sz="2400" b="1" dirty="0"/>
              <a:t> :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i="1" dirty="0"/>
              <a:t>Requirement Analysis, System Design, Development, Testing dan Deployment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5B086-58AB-2981-C257-15323DEC472D}"/>
              </a:ext>
            </a:extLst>
          </p:cNvPr>
          <p:cNvSpPr txBox="1"/>
          <p:nvPr/>
        </p:nvSpPr>
        <p:spPr>
          <a:xfrm>
            <a:off x="4556772" y="4700960"/>
            <a:ext cx="685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Teknologi</a:t>
            </a:r>
            <a:r>
              <a:rPr lang="en-US" sz="2400" b="1" dirty="0">
                <a:solidFill>
                  <a:schemeClr val="bg1"/>
                </a:solidFill>
              </a:rPr>
              <a:t> : </a:t>
            </a:r>
            <a:r>
              <a:rPr lang="en-US" sz="2400" dirty="0" err="1">
                <a:solidFill>
                  <a:schemeClr val="bg1"/>
                </a:solidFill>
              </a:rPr>
              <a:t>Implementasi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menggunakan</a:t>
            </a:r>
            <a:r>
              <a:rPr lang="en-US" sz="2400" dirty="0">
                <a:solidFill>
                  <a:schemeClr val="bg1"/>
                </a:solidFill>
              </a:rPr>
              <a:t> basis data MySQL </a:t>
            </a:r>
            <a:r>
              <a:rPr lang="en-US" sz="2400" dirty="0" err="1">
                <a:solidFill>
                  <a:schemeClr val="bg1"/>
                </a:solidFill>
              </a:rPr>
              <a:t>serta</a:t>
            </a:r>
            <a:r>
              <a:rPr lang="en-US" sz="2400" dirty="0">
                <a:solidFill>
                  <a:schemeClr val="bg1"/>
                </a:solidFill>
              </a:rPr>
              <a:t> Framework </a:t>
            </a:r>
            <a:r>
              <a:rPr lang="en-US" sz="2400" dirty="0" err="1">
                <a:solidFill>
                  <a:schemeClr val="bg1"/>
                </a:solidFill>
              </a:rPr>
              <a:t>seperti</a:t>
            </a:r>
            <a:r>
              <a:rPr lang="en-US" sz="2400" dirty="0">
                <a:solidFill>
                  <a:schemeClr val="bg1"/>
                </a:solidFill>
              </a:rPr>
              <a:t> Laravel 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1E10C-3A59-A7D3-06F8-DA25DD4A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14" y="-953025"/>
            <a:ext cx="7717971" cy="2668463"/>
          </a:xfrm>
        </p:spPr>
        <p:txBody>
          <a:bodyPr/>
          <a:lstStyle/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, output &amp; </a:t>
            </a:r>
            <a:r>
              <a:rPr lang="en-US" dirty="0" err="1"/>
              <a:t>jadwal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195E1-29C0-2F74-7D2B-0FE54555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3ACB0F-17B0-AF55-BE1F-9F8C2674B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099934"/>
              </p:ext>
            </p:extLst>
          </p:nvPr>
        </p:nvGraphicFramePr>
        <p:xfrm>
          <a:off x="4474029" y="1880689"/>
          <a:ext cx="7411357" cy="2225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2290885023"/>
                    </a:ext>
                  </a:extLst>
                </a:gridCol>
                <a:gridCol w="3750128">
                  <a:extLst>
                    <a:ext uri="{9D8B030D-6E8A-4147-A177-3AD203B41FA5}">
                      <a16:colId xmlns:a16="http://schemas.microsoft.com/office/drawing/2014/main" val="371142885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Struktur</a:t>
                      </a:r>
                      <a:r>
                        <a:rPr lang="en-US" dirty="0"/>
                        <a:t> Tim </a:t>
                      </a:r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Muhammad Akmal </a:t>
                      </a:r>
                      <a:r>
                        <a:rPr lang="en-US" b="0" dirty="0" err="1"/>
                        <a:t>Palqah</a:t>
                      </a:r>
                      <a:r>
                        <a:rPr lang="en-US" b="0" dirty="0"/>
                        <a:t> </a:t>
                      </a:r>
                      <a:endParaRPr lang="en-ID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Project Leader/ Project Manager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3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Rahayu Padilah </a:t>
                      </a:r>
                      <a:endParaRPr lang="en-ID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System analyst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50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Ilham Al Munawar</a:t>
                      </a:r>
                      <a:endParaRPr lang="en-ID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Programmer front-end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53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Muhammad Fajar </a:t>
                      </a:r>
                      <a:r>
                        <a:rPr lang="en-US" b="0" dirty="0" err="1"/>
                        <a:t>Nurjaman</a:t>
                      </a:r>
                      <a:r>
                        <a:rPr lang="en-US" b="0" dirty="0"/>
                        <a:t> </a:t>
                      </a:r>
                      <a:endParaRPr lang="en-ID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Programmer back-end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60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Riphan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Romadlon</a:t>
                      </a:r>
                      <a:r>
                        <a:rPr lang="en-US" b="0" dirty="0"/>
                        <a:t> </a:t>
                      </a:r>
                      <a:endParaRPr lang="en-ID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QA &amp; </a:t>
                      </a:r>
                      <a:r>
                        <a:rPr lang="en-US" b="0" dirty="0" err="1"/>
                        <a:t>dokumentasi</a:t>
                      </a:r>
                      <a:r>
                        <a:rPr lang="en-US" b="0" dirty="0"/>
                        <a:t> 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443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136814-E172-7D54-EA84-87E48E20361C}"/>
              </a:ext>
            </a:extLst>
          </p:cNvPr>
          <p:cNvSpPr txBox="1"/>
          <p:nvPr/>
        </p:nvSpPr>
        <p:spPr>
          <a:xfrm>
            <a:off x="4550229" y="4621439"/>
            <a:ext cx="7053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 :</a:t>
            </a:r>
          </a:p>
          <a:p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dokumen</a:t>
            </a:r>
            <a:r>
              <a:rPr lang="en-US" sz="2400" dirty="0"/>
              <a:t> SRS, SDD, Source Code </a:t>
            </a:r>
            <a:r>
              <a:rPr lang="en-US" sz="2400" dirty="0" err="1"/>
              <a:t>aplikasi</a:t>
            </a:r>
            <a:r>
              <a:rPr lang="en-US" sz="2400" dirty="0"/>
              <a:t>, Manual </a:t>
            </a:r>
            <a:r>
              <a:rPr lang="en-US" sz="2400" dirty="0" err="1"/>
              <a:t>Pengguna</a:t>
            </a:r>
            <a:r>
              <a:rPr lang="en-US" sz="2400" dirty="0"/>
              <a:t>, dan </a:t>
            </a:r>
            <a:r>
              <a:rPr lang="en-US" sz="2400" dirty="0" err="1"/>
              <a:t>Laporan</a:t>
            </a:r>
            <a:r>
              <a:rPr lang="en-US" sz="2400" dirty="0"/>
              <a:t> Akhir </a:t>
            </a:r>
            <a:r>
              <a:rPr lang="en-US" sz="2400" dirty="0" err="1"/>
              <a:t>Proyek</a:t>
            </a:r>
            <a:r>
              <a:rPr lang="en-US" sz="2400" dirty="0"/>
              <a:t> 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60152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AAA612B-D185-5F75-F720-7BC5B5081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117890"/>
              </p:ext>
            </p:extLst>
          </p:nvPr>
        </p:nvGraphicFramePr>
        <p:xfrm>
          <a:off x="528775" y="1351038"/>
          <a:ext cx="11134448" cy="4688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Muhammad Akmal </a:t>
                      </a:r>
                      <a:r>
                        <a:rPr lang="en-US" dirty="0" err="1"/>
                        <a:t>Palqah</a:t>
                      </a:r>
                      <a:r>
                        <a:rPr lang="en-US" dirty="0"/>
                        <a:t> : </a:t>
                      </a:r>
                    </a:p>
                    <a:p>
                      <a:r>
                        <a:rPr lang="en-US" dirty="0"/>
                        <a:t>Project Leader / Project manager 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- 1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ruang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lingkup</a:t>
                      </a:r>
                      <a:r>
                        <a:rPr lang="en-US" dirty="0"/>
                        <a:t> system    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Menyusun </a:t>
                      </a:r>
                      <a:r>
                        <a:rPr lang="en-US" dirty="0" err="1"/>
                        <a:t>struktur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tim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metedologi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pengembangan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Membuat Flowchart </a:t>
                      </a:r>
                      <a:r>
                        <a:rPr lang="en-US" dirty="0" err="1"/>
                        <a:t>bisnis</a:t>
                      </a:r>
                      <a:r>
                        <a:rPr lang="en-US" dirty="0"/>
                        <a:t> proses </a:t>
                      </a:r>
                      <a:r>
                        <a:rPr lang="en-US" dirty="0" err="1"/>
                        <a:t>perpustakaan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sisi</a:t>
                      </a:r>
                      <a:r>
                        <a:rPr lang="en-US" dirty="0"/>
                        <a:t> admin dan </a:t>
                      </a:r>
                      <a:r>
                        <a:rPr lang="en-US" dirty="0" err="1"/>
                        <a:t>pengunjung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stack </a:t>
                      </a:r>
                      <a:r>
                        <a:rPr lang="en-US" dirty="0" err="1"/>
                        <a:t>teknologi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Merancang</a:t>
                      </a:r>
                      <a:r>
                        <a:rPr lang="en-US" dirty="0"/>
                        <a:t> ERD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Review </a:t>
                      </a:r>
                      <a:r>
                        <a:rPr lang="en-US" dirty="0" err="1"/>
                        <a:t>draf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bab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pendahuluan</a:t>
                      </a:r>
                      <a:r>
                        <a:rPr lang="en-US" dirty="0"/>
                        <a:t> dan Gambaran </a:t>
                      </a:r>
                      <a:r>
                        <a:rPr lang="en-US" dirty="0" err="1"/>
                        <a:t>umum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7783-C462-546C-E461-6608B112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2720-FAFC-80AC-B3FF-15D768D5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176337-BEA6-DC7B-11E2-BB48E122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23679A6-3BFC-CAC7-F721-3751D6265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82098"/>
              </p:ext>
            </p:extLst>
          </p:nvPr>
        </p:nvGraphicFramePr>
        <p:xfrm>
          <a:off x="528775" y="1351038"/>
          <a:ext cx="11134448" cy="4953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Muhammad Akmal </a:t>
                      </a:r>
                      <a:r>
                        <a:rPr lang="en-US" dirty="0" err="1"/>
                        <a:t>Palqah</a:t>
                      </a:r>
                      <a:r>
                        <a:rPr lang="en-US" dirty="0"/>
                        <a:t> : </a:t>
                      </a:r>
                    </a:p>
                    <a:p>
                      <a:r>
                        <a:rPr lang="en-US" dirty="0"/>
                        <a:t>Project Leader / Project manager 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- 2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Menyusun </a:t>
                      </a:r>
                      <a:r>
                        <a:rPr lang="en-US" dirty="0" err="1"/>
                        <a:t>jadwal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pengerjaan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proyek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kualifikasi</a:t>
                      </a:r>
                      <a:r>
                        <a:rPr lang="en-US" dirty="0"/>
                        <a:t> personal yang </a:t>
                      </a:r>
                      <a:r>
                        <a:rPr lang="en-US" dirty="0" err="1"/>
                        <a:t>terlibat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Menyusun strategi </a:t>
                      </a:r>
                      <a:r>
                        <a:rPr lang="en-US" dirty="0" err="1"/>
                        <a:t>pengujian</a:t>
                      </a:r>
                      <a:r>
                        <a:rPr lang="en-US" dirty="0"/>
                        <a:t> system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Menyusun </a:t>
                      </a:r>
                      <a:r>
                        <a:rPr lang="en-US" dirty="0" err="1"/>
                        <a:t>rencana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pemeliharaan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pelatihan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pengguna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Menggabungkan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semua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kontribusi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teknis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satu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USTEK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Melakukan</a:t>
                      </a:r>
                      <a:r>
                        <a:rPr lang="en-US" dirty="0"/>
                        <a:t> Proofreading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memastikan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konsistensi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antara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spesifikasi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teknis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anggaran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Produksi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akhir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6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26505-5CDF-71B1-32A1-6EBF1ABD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EDB2-92B5-77F4-8837-E1FE8DA0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D06ABA-2616-236B-300E-FFB0272A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F553E1-70FD-D5EB-55D1-56671D0C2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49364"/>
              </p:ext>
            </p:extLst>
          </p:nvPr>
        </p:nvGraphicFramePr>
        <p:xfrm>
          <a:off x="528775" y="1351038"/>
          <a:ext cx="11134448" cy="38658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Rahayu Padilah  : </a:t>
                      </a:r>
                    </a:p>
                    <a:p>
                      <a:r>
                        <a:rPr lang="en-US" dirty="0"/>
                        <a:t>System Analyst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- 3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tujuan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ruang</a:t>
                      </a:r>
                      <a:r>
                        <a:rPr lang="en-US" dirty="0"/>
                        <a:t> linkup </a:t>
                      </a:r>
                      <a:r>
                        <a:rPr lang="en-US" dirty="0" err="1"/>
                        <a:t>analis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Identifikasi</a:t>
                      </a:r>
                      <a:r>
                        <a:rPr lang="en-US" dirty="0"/>
                        <a:t> stakeholder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Mengumpulkan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lama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Wawancara</a:t>
                      </a:r>
                      <a:r>
                        <a:rPr lang="en-US" dirty="0"/>
                        <a:t> stakeholder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Wawancara</a:t>
                      </a:r>
                      <a:r>
                        <a:rPr lang="en-US" dirty="0"/>
                        <a:t> staff admin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Menyusun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wawancara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Review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awal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097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99FD-F2A1-C904-5F22-5D0AB8F9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9D06-F124-426F-977A-36184C263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B09636-1F00-90C5-E3A7-8ACFC478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5A44F55-4522-C5D2-EC52-DA2EE398B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750008"/>
              </p:ext>
            </p:extLst>
          </p:nvPr>
        </p:nvGraphicFramePr>
        <p:xfrm>
          <a:off x="528775" y="1351038"/>
          <a:ext cx="11134448" cy="38658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Rahayu Padilah  : </a:t>
                      </a:r>
                    </a:p>
                    <a:p>
                      <a:r>
                        <a:rPr lang="en-US" dirty="0"/>
                        <a:t>System Analyst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- 4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Membuat flow proses system lama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fitur</a:t>
                      </a:r>
                      <a:r>
                        <a:rPr lang="en-US" dirty="0"/>
                        <a:t> login, user, </a:t>
                      </a:r>
                      <a:r>
                        <a:rPr lang="en-US" dirty="0" err="1"/>
                        <a:t>katalog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buku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dll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Membuat use case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Diskusi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ulang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stakeholder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Menulis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bagian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pendahuluan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Review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BE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62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ACA0-1DBC-7C47-F04D-C81C8C52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40ED-5E0E-D9A2-D0E4-ECC7D0F6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CD9FB2-ECA7-9D43-6609-E5C6AAEE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06776F1-AF44-FA42-A704-9ECE24D85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13570"/>
              </p:ext>
            </p:extLst>
          </p:nvPr>
        </p:nvGraphicFramePr>
        <p:xfrm>
          <a:off x="528775" y="1351038"/>
          <a:ext cx="11134448" cy="35966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Ilham Al Munawar   : </a:t>
                      </a:r>
                    </a:p>
                    <a:p>
                      <a:r>
                        <a:rPr lang="en-US" dirty="0"/>
                        <a:t>Programmer Front-end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- 5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environment dan </a:t>
                      </a:r>
                      <a:r>
                        <a:rPr lang="en-US" dirty="0" err="1"/>
                        <a:t>struktur</a:t>
                      </a:r>
                      <a:r>
                        <a:rPr lang="en-US" dirty="0"/>
                        <a:t> folder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Layout </a:t>
                      </a:r>
                      <a:r>
                        <a:rPr lang="en-US" dirty="0" err="1"/>
                        <a:t>utama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Landing page dan login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Dashboard user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Modul </a:t>
                      </a:r>
                      <a:r>
                        <a:rPr lang="en-US" dirty="0" err="1"/>
                        <a:t>katalog</a:t>
                      </a:r>
                      <a:r>
                        <a:rPr lang="en-US" dirty="0"/>
                        <a:t> dan filter OPAC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Review dan self-bug fixing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Persiapan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intergrasi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08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0F73-7E22-25CD-4E89-CCC44820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8CC7-58DE-9D33-A31D-00241962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ABE7C-A8BA-6E97-3A6E-E4DAAE66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7B63CF5-B9F6-5BBF-5C4F-4BD89F23C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36294"/>
              </p:ext>
            </p:extLst>
          </p:nvPr>
        </p:nvGraphicFramePr>
        <p:xfrm>
          <a:off x="528775" y="1351038"/>
          <a:ext cx="11134448" cy="35966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Ilham Al Munawar   : </a:t>
                      </a:r>
                    </a:p>
                    <a:p>
                      <a:r>
                        <a:rPr lang="en-US" dirty="0"/>
                        <a:t>Programmer Front-end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- 6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Detail </a:t>
                      </a:r>
                      <a:r>
                        <a:rPr lang="en-US" dirty="0" err="1"/>
                        <a:t>halaman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buku</a:t>
                      </a:r>
                      <a:r>
                        <a:rPr lang="en-US" dirty="0"/>
                        <a:t> dan E- resource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Modul </a:t>
                      </a:r>
                      <a:r>
                        <a:rPr lang="en-US" dirty="0" err="1"/>
                        <a:t>pinjam</a:t>
                      </a:r>
                      <a:r>
                        <a:rPr lang="en-US" dirty="0"/>
                        <a:t> dan Riwayat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Modul </a:t>
                      </a:r>
                      <a:r>
                        <a:rPr lang="en-US" dirty="0" err="1"/>
                        <a:t>denda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notifikasi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Intergrasi</a:t>
                      </a:r>
                      <a:r>
                        <a:rPr lang="en-US" dirty="0"/>
                        <a:t> API backend ( </a:t>
                      </a:r>
                      <a:r>
                        <a:rPr lang="en-US" dirty="0" err="1"/>
                        <a:t>modul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katalog</a:t>
                      </a:r>
                      <a:r>
                        <a:rPr lang="en-US" dirty="0"/>
                        <a:t> 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Slicing </a:t>
                      </a:r>
                      <a:r>
                        <a:rPr lang="en-US" dirty="0" err="1"/>
                        <a:t>responsivitas</a:t>
                      </a:r>
                      <a:r>
                        <a:rPr lang="en-US" dirty="0"/>
                        <a:t> (mobile/Web)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Final touch UI dan </a:t>
                      </a:r>
                      <a:r>
                        <a:rPr lang="en-US" dirty="0" err="1"/>
                        <a:t>dokumentasi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kode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Internal review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tim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486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3B58-0908-BBEB-E088-BFD4A4C0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52C6-2B58-5D27-09D1-8385EABC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38E78-698A-8840-3FD6-E9A0E8C0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73D8BE5-0567-0E38-38E0-CE0CA7E05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90751"/>
              </p:ext>
            </p:extLst>
          </p:nvPr>
        </p:nvGraphicFramePr>
        <p:xfrm>
          <a:off x="528775" y="1351038"/>
          <a:ext cx="11134448" cy="4953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Muhammad </a:t>
                      </a:r>
                      <a:r>
                        <a:rPr lang="en-US" dirty="0" err="1"/>
                        <a:t>fajar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Nurjaman</a:t>
                      </a:r>
                      <a:r>
                        <a:rPr lang="en-US" dirty="0"/>
                        <a:t>   : </a:t>
                      </a:r>
                    </a:p>
                    <a:p>
                      <a:r>
                        <a:rPr lang="en-US" dirty="0"/>
                        <a:t>Programmer Back-end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- 7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632339">
                <a:tc>
                  <a:txBody>
                    <a:bodyPr/>
                    <a:lstStyle/>
                    <a:p>
                      <a:r>
                        <a:rPr lang="en-US" dirty="0" err="1"/>
                        <a:t>Menetukan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ruang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lingkup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modul</a:t>
                      </a:r>
                      <a:r>
                        <a:rPr lang="en-US" dirty="0"/>
                        <a:t> programmer ( </a:t>
                      </a:r>
                      <a:r>
                        <a:rPr lang="en-US" dirty="0" err="1"/>
                        <a:t>katalog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sirkulasi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denda</a:t>
                      </a:r>
                      <a:r>
                        <a:rPr lang="en-US" dirty="0"/>
                        <a:t>, dashboard)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repository git dan </a:t>
                      </a:r>
                      <a:r>
                        <a:rPr lang="en-US" dirty="0" err="1"/>
                        <a:t>aturan</a:t>
                      </a:r>
                      <a:r>
                        <a:rPr lang="en-US" dirty="0"/>
                        <a:t> branching/commit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environment dev ( framework, Db MySQL/</a:t>
                      </a:r>
                      <a:r>
                        <a:rPr lang="en-US" dirty="0" err="1"/>
                        <a:t>PotrageSQL</a:t>
                      </a:r>
                      <a:r>
                        <a:rPr lang="en-US" dirty="0"/>
                        <a:t>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database </a:t>
                      </a:r>
                      <a:r>
                        <a:rPr lang="en-US" dirty="0" err="1"/>
                        <a:t>awal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template UI dan layout </a:t>
                      </a:r>
                      <a:r>
                        <a:rPr lang="en-US" dirty="0" err="1"/>
                        <a:t>dasar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Seed data </a:t>
                      </a:r>
                      <a:r>
                        <a:rPr lang="en-US" dirty="0" err="1"/>
                        <a:t>awal</a:t>
                      </a:r>
                      <a:r>
                        <a:rPr lang="en-US" dirty="0"/>
                        <a:t> ( admin, role 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Review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minggu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catatan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hambatan</a:t>
                      </a:r>
                      <a:r>
                        <a:rPr lang="en-US" dirty="0"/>
                        <a:t>/plan </a:t>
                      </a:r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selanutnya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989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A769-13BC-F0FF-0C77-05C3AEBE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4CC4-7DAF-B7C4-F29F-1F27BE21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D6938D-E4ED-CCAC-14A4-29B28A5D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24F799-DB13-EF9F-A7A8-E9D08EE39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713248"/>
              </p:ext>
            </p:extLst>
          </p:nvPr>
        </p:nvGraphicFramePr>
        <p:xfrm>
          <a:off x="528775" y="1351038"/>
          <a:ext cx="11134448" cy="440169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Muhammad </a:t>
                      </a:r>
                      <a:r>
                        <a:rPr lang="en-US" dirty="0" err="1"/>
                        <a:t>fajar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Nurjaman</a:t>
                      </a:r>
                      <a:r>
                        <a:rPr lang="en-US" dirty="0"/>
                        <a:t>   : </a:t>
                      </a:r>
                    </a:p>
                    <a:p>
                      <a:r>
                        <a:rPr lang="en-US" dirty="0"/>
                        <a:t>Programmer Back-end</a:t>
                      </a:r>
                      <a:endParaRPr lang="en-ID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- 8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632339">
                <a:tc>
                  <a:txBody>
                    <a:bodyPr/>
                    <a:lstStyle/>
                    <a:p>
                      <a:r>
                        <a:rPr lang="en-US" dirty="0" err="1"/>
                        <a:t>Implementasi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autenfikasi</a:t>
                      </a:r>
                      <a:r>
                        <a:rPr lang="en-US" dirty="0"/>
                        <a:t> login/logout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CRUD data </a:t>
                      </a:r>
                      <a:r>
                        <a:rPr lang="en-US" dirty="0" err="1"/>
                        <a:t>anggota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validasi</a:t>
                      </a:r>
                      <a:r>
                        <a:rPr lang="en-US" dirty="0"/>
                        <a:t> form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CURD data </a:t>
                      </a:r>
                      <a:r>
                        <a:rPr lang="en-US" dirty="0" err="1"/>
                        <a:t>buku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Pencarian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katalog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sederhana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Intergrasi</a:t>
                      </a:r>
                      <a:r>
                        <a:rPr lang="en-US" dirty="0"/>
                        <a:t> UI </a:t>
                      </a:r>
                      <a:r>
                        <a:rPr lang="en-US" dirty="0" err="1"/>
                        <a:t>modul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perapihan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tampilan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Testing internal dan </a:t>
                      </a:r>
                      <a:r>
                        <a:rPr lang="en-US" dirty="0" err="1"/>
                        <a:t>perbaikan</a:t>
                      </a:r>
                      <a:r>
                        <a:rPr lang="en-US" dirty="0"/>
                        <a:t> bug </a:t>
                      </a:r>
                      <a:r>
                        <a:rPr lang="en-US" dirty="0" err="1"/>
                        <a:t>awal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Dokumentasi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singkat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struktur</a:t>
                      </a:r>
                      <a:r>
                        <a:rPr lang="en-US" dirty="0"/>
                        <a:t> folder dan endpoint </a:t>
                      </a:r>
                      <a:r>
                        <a:rPr lang="en-US" dirty="0" err="1"/>
                        <a:t>utama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062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D649-1303-CC72-AAB3-55A782D1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B40A-E7C9-180D-1830-EC5F34DE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E91555-C1F2-A16C-51EE-7A81F70F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70BF981-45FC-38C1-5482-F5F5DC93E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281121"/>
              </p:ext>
            </p:extLst>
          </p:nvPr>
        </p:nvGraphicFramePr>
        <p:xfrm>
          <a:off x="528775" y="1351038"/>
          <a:ext cx="11134448" cy="461215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Riphan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Romadlon</a:t>
                      </a:r>
                      <a:r>
                        <a:rPr lang="en-US" dirty="0"/>
                        <a:t>: </a:t>
                      </a:r>
                    </a:p>
                    <a:p>
                      <a:r>
                        <a:rPr lang="en-US" dirty="0"/>
                        <a:t>QA dan </a:t>
                      </a:r>
                      <a:r>
                        <a:rPr lang="en-US" dirty="0" err="1"/>
                        <a:t>domkumentasi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- 9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479213">
                <a:tc>
                  <a:txBody>
                    <a:bodyPr/>
                    <a:lstStyle/>
                    <a:p>
                      <a:r>
                        <a:rPr lang="en-US" dirty="0"/>
                        <a:t>Menyusun test plan dan test case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</a:t>
                      </a:r>
                      <a:r>
                        <a:rPr lang="en-US" dirty="0" err="1"/>
                        <a:t>modul</a:t>
                      </a:r>
                      <a:r>
                        <a:rPr lang="en-US" dirty="0"/>
                        <a:t> login dan </a:t>
                      </a:r>
                      <a:r>
                        <a:rPr lang="en-US" dirty="0" err="1"/>
                        <a:t>manajemen</a:t>
                      </a:r>
                      <a:r>
                        <a:rPr lang="en-US" dirty="0"/>
                        <a:t> user </a:t>
                      </a:r>
                      <a:r>
                        <a:rPr lang="en-US" dirty="0" err="1"/>
                        <a:t>dokumentasi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uji </a:t>
                      </a:r>
                      <a:r>
                        <a:rPr lang="en-US" dirty="0" err="1"/>
                        <a:t>awal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</a:t>
                      </a:r>
                      <a:r>
                        <a:rPr lang="en-US" dirty="0" err="1"/>
                        <a:t>modul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katalog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</a:t>
                      </a:r>
                      <a:r>
                        <a:rPr lang="en-US" dirty="0" err="1"/>
                        <a:t>modul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sirkulasi</a:t>
                      </a:r>
                      <a:r>
                        <a:rPr lang="en-US" dirty="0"/>
                        <a:t>  dan update </a:t>
                      </a:r>
                      <a:r>
                        <a:rPr lang="en-US" dirty="0" err="1"/>
                        <a:t>laporan</a:t>
                      </a:r>
                      <a:r>
                        <a:rPr lang="en-US" dirty="0"/>
                        <a:t> bug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Re-testing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perbaikan</a:t>
                      </a:r>
                      <a:r>
                        <a:rPr lang="en-US" dirty="0"/>
                        <a:t> bug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programmer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Persiapan</a:t>
                      </a:r>
                      <a:r>
                        <a:rPr lang="en-US" dirty="0"/>
                        <a:t> User </a:t>
                      </a:r>
                      <a:r>
                        <a:rPr lang="en-US" dirty="0" err="1"/>
                        <a:t>Acceptence</a:t>
                      </a:r>
                      <a:r>
                        <a:rPr lang="en-US" dirty="0"/>
                        <a:t> Test ( UAT)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Pelaksanaan</a:t>
                      </a:r>
                      <a:r>
                        <a:rPr lang="en-US" dirty="0"/>
                        <a:t> UAT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user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632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F648-9651-8ACB-F2CE-3FDC85BE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399E-0AD2-D21E-D88A-4246AEC2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98677"/>
            <a:ext cx="10668000" cy="1325563"/>
          </a:xfrm>
        </p:spPr>
        <p:txBody>
          <a:bodyPr/>
          <a:lstStyle/>
          <a:p>
            <a:r>
              <a:rPr lang="en-US" dirty="0"/>
              <a:t>Jadwal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06D54-3791-5D06-DB62-5437AEFE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578888D-2717-A838-A3B2-E17A27472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448957"/>
              </p:ext>
            </p:extLst>
          </p:nvPr>
        </p:nvGraphicFramePr>
        <p:xfrm>
          <a:off x="528775" y="1351038"/>
          <a:ext cx="11134448" cy="407875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13339">
                  <a:extLst>
                    <a:ext uri="{9D8B030D-6E8A-4147-A177-3AD203B41FA5}">
                      <a16:colId xmlns:a16="http://schemas.microsoft.com/office/drawing/2014/main" val="1922260464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95350014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71530872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80867396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55626918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38565085"/>
                    </a:ext>
                  </a:extLst>
                </a:gridCol>
                <a:gridCol w="1012372">
                  <a:extLst>
                    <a:ext uri="{9D8B030D-6E8A-4147-A177-3AD203B41FA5}">
                      <a16:colId xmlns:a16="http://schemas.microsoft.com/office/drawing/2014/main" val="1774694989"/>
                    </a:ext>
                  </a:extLst>
                </a:gridCol>
                <a:gridCol w="1256480">
                  <a:extLst>
                    <a:ext uri="{9D8B030D-6E8A-4147-A177-3AD203B41FA5}">
                      <a16:colId xmlns:a16="http://schemas.microsoft.com/office/drawing/2014/main" val="2809022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Nama / </a:t>
                      </a:r>
                      <a:r>
                        <a:rPr lang="en-US" dirty="0" err="1"/>
                        <a:t>Pengerjaannya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Senin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Selasa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Rabu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Kamis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Jum’at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Sabtu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91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Riphan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Romadlon</a:t>
                      </a:r>
                      <a:r>
                        <a:rPr lang="en-US" dirty="0"/>
                        <a:t>: </a:t>
                      </a:r>
                    </a:p>
                    <a:p>
                      <a:r>
                        <a:rPr lang="en-US" dirty="0"/>
                        <a:t>QA dan </a:t>
                      </a:r>
                      <a:r>
                        <a:rPr lang="en-US" dirty="0" err="1"/>
                        <a:t>domkumentasi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Minggu</a:t>
                      </a:r>
                      <a:r>
                        <a:rPr lang="en-US" dirty="0"/>
                        <a:t> - 10</a:t>
                      </a:r>
                      <a:endParaRPr lang="en-ID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4358"/>
                  </a:ext>
                </a:extLst>
              </a:tr>
              <a:tr h="479213">
                <a:tc>
                  <a:txBody>
                    <a:bodyPr/>
                    <a:lstStyle/>
                    <a:p>
                      <a:r>
                        <a:rPr lang="en-US" dirty="0" err="1"/>
                        <a:t>Analisis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UAT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21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Re-testing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perbaikan</a:t>
                      </a:r>
                      <a:r>
                        <a:rPr lang="en-US" dirty="0"/>
                        <a:t> UAT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3832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r>
                        <a:rPr lang="en-US" dirty="0"/>
                        <a:t>Test report </a:t>
                      </a:r>
                      <a:r>
                        <a:rPr lang="en-US" dirty="0" err="1"/>
                        <a:t>berita</a:t>
                      </a:r>
                      <a:r>
                        <a:rPr lang="en-US" dirty="0"/>
                        <a:t> acara UAT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1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Menyusun User manual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47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Menyusun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laporan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akhir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7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Review dan </a:t>
                      </a:r>
                      <a:r>
                        <a:rPr lang="en-US" dirty="0" err="1"/>
                        <a:t>revisi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seleuruh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834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Finalisasi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akhir</a:t>
                      </a:r>
                      <a:r>
                        <a:rPr lang="en-US" dirty="0"/>
                        <a:t> dan packaging </a:t>
                      </a:r>
                      <a:r>
                        <a:rPr lang="en-US" dirty="0" err="1"/>
                        <a:t>semua</a:t>
                      </a:r>
                      <a:r>
                        <a:rPr lang="en-US" dirty="0"/>
                        <a:t> deliverables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55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32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355" y="136525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 err="1"/>
              <a:t>Usulan</a:t>
            </a:r>
            <a:r>
              <a:rPr lang="en-US" dirty="0"/>
              <a:t> </a:t>
            </a:r>
            <a:r>
              <a:rPr lang="en-US" dirty="0" err="1"/>
              <a:t>Anggaran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 err="1"/>
              <a:t>Estimasi</a:t>
            </a:r>
            <a:r>
              <a:rPr lang="en-US" dirty="0"/>
              <a:t> )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2EBA4-E298-69B8-057D-9EC04C691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117492"/>
              </p:ext>
            </p:extLst>
          </p:nvPr>
        </p:nvGraphicFramePr>
        <p:xfrm>
          <a:off x="1597446" y="1577359"/>
          <a:ext cx="9983049" cy="501072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327683">
                  <a:extLst>
                    <a:ext uri="{9D8B030D-6E8A-4147-A177-3AD203B41FA5}">
                      <a16:colId xmlns:a16="http://schemas.microsoft.com/office/drawing/2014/main" val="1686154150"/>
                    </a:ext>
                  </a:extLst>
                </a:gridCol>
                <a:gridCol w="3327683">
                  <a:extLst>
                    <a:ext uri="{9D8B030D-6E8A-4147-A177-3AD203B41FA5}">
                      <a16:colId xmlns:a16="http://schemas.microsoft.com/office/drawing/2014/main" val="3085287420"/>
                    </a:ext>
                  </a:extLst>
                </a:gridCol>
                <a:gridCol w="3327683">
                  <a:extLst>
                    <a:ext uri="{9D8B030D-6E8A-4147-A177-3AD203B41FA5}">
                      <a16:colId xmlns:a16="http://schemas.microsoft.com/office/drawing/2014/main" val="786759348"/>
                    </a:ext>
                  </a:extLst>
                </a:gridCol>
              </a:tblGrid>
              <a:tr h="38996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Kategori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Biaya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Komponen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Estimasi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Biaya</a:t>
                      </a:r>
                      <a:r>
                        <a:rPr lang="en-US" dirty="0"/>
                        <a:t> ( Rp)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75406"/>
                  </a:ext>
                </a:extLst>
              </a:tr>
              <a:tr h="1250011">
                <a:tc>
                  <a:txBody>
                    <a:bodyPr/>
                    <a:lstStyle/>
                    <a:p>
                      <a:r>
                        <a:rPr lang="en-US" dirty="0" err="1"/>
                        <a:t>Personil</a:t>
                      </a:r>
                      <a:r>
                        <a:rPr lang="en-US" dirty="0"/>
                        <a:t> ( honor 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leader/ project manager , system analyst, 3 programmer, QA total 5 orang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Rp.15.000.000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578713"/>
                  </a:ext>
                </a:extLst>
              </a:tr>
              <a:tr h="961547">
                <a:tc>
                  <a:txBody>
                    <a:bodyPr/>
                    <a:lstStyle/>
                    <a:p>
                      <a:r>
                        <a:rPr lang="en-US" dirty="0" err="1"/>
                        <a:t>Infrastruktur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Sewa cloud hosting dan domain ( ac.id) </a:t>
                      </a:r>
                      <a:r>
                        <a:rPr lang="en-US" dirty="0" err="1"/>
                        <a:t>selama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tahun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Rp. 2.500.000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080160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r>
                        <a:rPr lang="en-US" dirty="0" err="1"/>
                        <a:t>Operasional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Transportas</a:t>
                      </a:r>
                      <a:r>
                        <a:rPr lang="en-US" dirty="0"/>
                        <a:t>, dan </a:t>
                      </a:r>
                      <a:r>
                        <a:rPr lang="en-US" dirty="0" err="1"/>
                        <a:t>biaya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wawancara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Rp. 1.500.000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381293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r>
                        <a:rPr lang="en-US" dirty="0" err="1"/>
                        <a:t>Dokumentasi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Cetak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SRS,SDD,user</a:t>
                      </a:r>
                      <a:r>
                        <a:rPr lang="en-US" dirty="0"/>
                        <a:t> manual dan </a:t>
                      </a:r>
                      <a:r>
                        <a:rPr lang="en-US" dirty="0" err="1"/>
                        <a:t>laporan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akhir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Rp. 1.000.000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106424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r>
                        <a:rPr lang="en-US" dirty="0"/>
                        <a:t>Lain- lain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Biaya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pelatihan</a:t>
                      </a:r>
                      <a:r>
                        <a:rPr lang="en-US" dirty="0"/>
                        <a:t> staff dan </a:t>
                      </a:r>
                      <a:r>
                        <a:rPr lang="en-US" dirty="0" err="1"/>
                        <a:t>tak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terduga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Rp. 2.000.000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33908"/>
                  </a:ext>
                </a:extLst>
              </a:tr>
              <a:tr h="389961">
                <a:tc gridSpan="2"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  <a:r>
                        <a:rPr lang="en-US" dirty="0" err="1"/>
                        <a:t>Estimasi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Rp.22.000.000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862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1777" y="1322024"/>
            <a:ext cx="5535264" cy="1389851"/>
          </a:xfrm>
        </p:spPr>
        <p:txBody>
          <a:bodyPr>
            <a:noAutofit/>
          </a:bodyPr>
          <a:lstStyle/>
          <a:p>
            <a:r>
              <a:rPr lang="en-US" sz="6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1777" y="3229668"/>
            <a:ext cx="6945423" cy="2501222"/>
          </a:xfrm>
        </p:spPr>
        <p:txBody>
          <a:bodyPr bIns="0">
            <a:normAutofit fontScale="92500"/>
          </a:bodyPr>
          <a:lstStyle/>
          <a:p>
            <a:r>
              <a:rPr lang="en-US" dirty="0"/>
              <a:t>MANAJEMEN PROYEK SISTEM INFORMASI </a:t>
            </a:r>
          </a:p>
          <a:p>
            <a:r>
              <a:rPr lang="en-US" dirty="0"/>
              <a:t>PENGEMBANGAN SISTEM INFORMASI PERPUSTAKAAN BERBASIS WEB  DI LINKUNGAN  UNIVERSITAS KEBANGSAAN INDONESIA </a:t>
            </a:r>
          </a:p>
          <a:p>
            <a:endParaRPr lang="en-US" dirty="0"/>
          </a:p>
          <a:p>
            <a:pPr algn="r"/>
            <a:r>
              <a:rPr lang="en-US" dirty="0"/>
              <a:t>BY : KELOMPOK 6 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{46A231EE-BDA9-4496-AF06-E7FCECCB03A5}TF55c86556-70ea-476e-aa05-13a38f2d5b0da1381d77_win32-a3c664429073</Template>
  <TotalTime>144</TotalTime>
  <Words>948</Words>
  <Application>Microsoft Office PowerPoint</Application>
  <PresentationFormat>Widescreen</PresentationFormat>
  <Paragraphs>296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Avenir Next LT Pro</vt:lpstr>
      <vt:lpstr>Calibri</vt:lpstr>
      <vt:lpstr>Custom</vt:lpstr>
      <vt:lpstr>Pengembangan sistem informasi perpustakaan  berbasis web</vt:lpstr>
      <vt:lpstr>PEMBAHASAN </vt:lpstr>
      <vt:lpstr>Latar belakang &amp; masalah </vt:lpstr>
      <vt:lpstr>PowerPoint Presentation</vt:lpstr>
      <vt:lpstr>Maksud &amp; Tujuan </vt:lpstr>
      <vt:lpstr>PowerPoint Presentation</vt:lpstr>
      <vt:lpstr>Metodologi &amp; Pengumpulan data </vt:lpstr>
      <vt:lpstr>Tahap pengembangan &amp; Teknologi </vt:lpstr>
      <vt:lpstr>Struktur tim, output &amp; jadwal </vt:lpstr>
      <vt:lpstr>Jadwal</vt:lpstr>
      <vt:lpstr>Jadwal</vt:lpstr>
      <vt:lpstr>Jadwal</vt:lpstr>
      <vt:lpstr>Jadwal</vt:lpstr>
      <vt:lpstr>Jadwal</vt:lpstr>
      <vt:lpstr>Jadwal</vt:lpstr>
      <vt:lpstr>Jadwal</vt:lpstr>
      <vt:lpstr>Jadwal</vt:lpstr>
      <vt:lpstr>Jadwal</vt:lpstr>
      <vt:lpstr>Jadwal</vt:lpstr>
      <vt:lpstr>Usulan Anggaran biaya  ( Estimasi )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zibemz19</dc:creator>
  <cp:lastModifiedBy>zibemz19</cp:lastModifiedBy>
  <cp:revision>1</cp:revision>
  <dcterms:created xsi:type="dcterms:W3CDTF">2026-04-08T15:06:45Z</dcterms:created>
  <dcterms:modified xsi:type="dcterms:W3CDTF">2026-04-08T17:31:22Z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